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2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63" d="100"/>
          <a:sy n="63" d="100"/>
        </p:scale>
        <p:origin x="72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94A567-3058-40A2-972A-627555CE9654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DA8DC1-97FE-4A23-90FA-B6465DB41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0101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FBA83C-F57E-E3D1-E458-75F3C9CC22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9AEDF71-71CF-D8B1-8CE6-81F0F1344E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EA98B1-55DE-7092-5977-13A7BDA05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D79E9-5EF9-4A61-8EDD-D0BF8DF2E1FF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FD941B-3FE9-4F1C-08EF-825F169C0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44E72A-47D3-38AF-8D09-DD6DAF09A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2446C-064B-4569-B6B0-BC434DEE61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5177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764FB9-1392-14B9-18F3-6CB30192A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18560D-3841-3B0A-DDB8-DDE6600B4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203A91-FEBC-03CE-0E42-ED0A9B88A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D79E9-5EF9-4A61-8EDD-D0BF8DF2E1FF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EECE90-2140-DB0C-F1C5-784C344D5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B0A5DB-9825-7DCF-24AB-A8B1F5288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2446C-064B-4569-B6B0-BC434DEE61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0424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0391D2-F73E-42EA-9357-0425E9B9B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EF92F15-61D9-1F56-2B06-496E655699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6B3D56-4CFD-6509-9B07-552C8B4E9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D79E9-5EF9-4A61-8EDD-D0BF8DF2E1FF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4B60EC-6D10-D8B5-A844-FE07A08A8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96CF5C-5896-8382-1426-48E06F60C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2446C-064B-4569-B6B0-BC434DEE61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3653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00255A-B54B-52AB-854D-447743985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F876BB-3DE8-55F2-D152-D301E12507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6F1298-FADC-D596-3A8A-3DF50D7A31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A310998-7BD8-7A7D-2F47-1C22B193D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D79E9-5EF9-4A61-8EDD-D0BF8DF2E1FF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E0D3ADD-44B1-6B55-F010-3C61389FB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EBF5286-CCFA-5488-05A2-BF742C06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2446C-064B-4569-B6B0-BC434DEE61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1622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570F64-3A9B-C13D-29E8-16356B492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8AB8B6-4EEE-15B0-1F90-5B1FADE4F8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DA0FF0B-B082-8419-5547-C6647E4CA6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1A468B4-C5AF-724A-3006-04D2E81260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8FFEC6A-B684-7905-C061-E754013296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F146519-DEC9-22DC-9B3B-83EAB5533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D79E9-5EF9-4A61-8EDD-D0BF8DF2E1FF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1F00785-DDD6-8C1A-538E-7668AE155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20A8EAA-68BA-DEEC-CE7D-31B2324A0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2446C-064B-4569-B6B0-BC434DEE61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528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EFFBB4-77F8-FFA7-3C21-2F9288505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CFF015B-5434-7028-5EB5-0383450AA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D79E9-5EF9-4A61-8EDD-D0BF8DF2E1FF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95C5548-E155-92CB-22B6-5F24058C5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8883A60-E2C2-0FA3-CFCE-00AE7327E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2446C-064B-4569-B6B0-BC434DEE61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5867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09FBAD9-88B2-D054-8EBF-8D8FADF9D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D79E9-5EF9-4A61-8EDD-D0BF8DF2E1FF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962D57A-188F-07CA-6C43-5D8FB9E36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DA5C25-C18A-CE00-53B7-9159B910B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2446C-064B-4569-B6B0-BC434DEE61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27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E79FE1-EC48-FB86-0F30-943C0F570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DE538B-B857-502E-AD94-CFF09A6E20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7643D37-9130-1EEC-6AFE-5296889052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976577-0369-2BD7-AE56-1CF469E15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D79E9-5EF9-4A61-8EDD-D0BF8DF2E1FF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61430CC-36A6-8041-5412-4303F6995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04F0493-0261-BD10-9AB8-39976DC4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2446C-064B-4569-B6B0-BC434DEE61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8899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B4010E-7FA3-3538-403C-E6BA5FF9D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1C81C86-AB92-E79F-5602-97B2DD2A1D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6EDF37F-DEC7-1C54-F8A0-E02F8D6C82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DBCA531-E088-20D9-BA40-2AAAB77EB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D79E9-5EF9-4A61-8EDD-D0BF8DF2E1FF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342847F-BA74-F63F-5232-101DEAF5B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A640C5-D48B-3866-4E12-1A33AB1C5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2446C-064B-4569-B6B0-BC434DEE61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8272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70862C-956E-5B1D-BBA4-B3B03584B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E4F036F-77BE-C9FA-AFF2-5B38EBC9A1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271EC2-C2C8-3FFC-1A1C-9EA5F4C66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D79E9-5EF9-4A61-8EDD-D0BF8DF2E1FF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FC8DAA-8158-9ED3-ECDA-94AD2E93A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58D6BB-10F9-6759-0158-AF6146554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2446C-064B-4569-B6B0-BC434DEE61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5402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651D6EC-D641-97F7-B35B-1EDDC675A8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3B2E4EE-BA5E-87DD-EC1F-196D30D3F8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9AD578-9073-D0A1-3CEE-CBCA4E143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D79E9-5EF9-4A61-8EDD-D0BF8DF2E1FF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56DBEB-3D9A-F1A6-4844-6E877502F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E1FD1F-9205-F863-F6F9-18B4326C9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2446C-064B-4569-B6B0-BC434DEE61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6020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13CFE6A-2454-D572-8D96-CFA62FEE4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8E70535-185E-CB66-FF46-E33240B5E6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AB5C9B-30FF-A09B-6FDD-4916BE89B2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FD79E9-5EF9-4A61-8EDD-D0BF8DF2E1FF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D3659D-EB41-D9A8-954E-AC2D900CBA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D88AA7-FC8B-C266-D450-E86ECD6C4F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62446C-064B-4569-B6B0-BC434DEE61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932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E160B8-78ED-75BA-17FA-9AD183C967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55083"/>
            <a:ext cx="9144000" cy="238760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br>
              <a:rPr lang="en-US" altLang="ko-KR" sz="4000" dirty="0"/>
            </a:br>
            <a:br>
              <a:rPr lang="en-US" altLang="ko-KR" sz="4000" dirty="0"/>
            </a:br>
            <a:br>
              <a:rPr lang="en-US" altLang="ko-KR" sz="4000" dirty="0"/>
            </a:br>
            <a:br>
              <a:rPr lang="en-US" altLang="ko-KR" sz="4000" dirty="0"/>
            </a:br>
            <a:br>
              <a:rPr lang="en-US" altLang="ko-KR" sz="4000" dirty="0"/>
            </a:br>
            <a:r>
              <a:rPr lang="ko-KR" altLang="en-US" sz="4000" dirty="0"/>
              <a:t>레위기 제</a:t>
            </a:r>
            <a:r>
              <a:rPr lang="en-US" altLang="ko-KR" sz="4000" dirty="0"/>
              <a:t>12</a:t>
            </a:r>
            <a:r>
              <a:rPr lang="ko-KR" altLang="en-US" sz="4000" dirty="0"/>
              <a:t>강</a:t>
            </a:r>
            <a:br>
              <a:rPr lang="en-US" altLang="ko-KR" sz="4000" dirty="0"/>
            </a:br>
            <a:r>
              <a:rPr lang="ko-KR" altLang="en-US" sz="4000" dirty="0" err="1"/>
              <a:t>희년의</a:t>
            </a:r>
            <a:r>
              <a:rPr lang="ko-KR" altLang="en-US" sz="4000" dirty="0"/>
              <a:t> 자유와 해방</a:t>
            </a:r>
            <a:br>
              <a:rPr lang="en-US" altLang="ko-KR" sz="4000" dirty="0"/>
            </a:br>
            <a:endParaRPr lang="ko-KR" altLang="en-US" sz="31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AEB0261-BB3A-8648-9C54-D94B5DA5AF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3513" y="3429000"/>
            <a:ext cx="9144000" cy="165576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Rev. Dr. Paul Junghoon Lee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61648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7FC967-F739-4A48-9AD1-44A0E2A10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교회의 타락과 길흉화복의 종교생활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D8C6CC-FC24-4562-FFED-434A7A2DEF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내면의 두려움과 불안이 자기방어적 탐욕을 현실에서 밀어붙일 수 있도록 돕는다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highlight>
                  <a:srgbClr val="C0C0C0"/>
                </a:highlight>
              </a:rPr>
              <a:t>탐욕은 강자의 여유가 아니라 두려움의 자기보호 방식</a:t>
            </a:r>
            <a:endParaRPr lang="en-US" altLang="ko-KR" dirty="0">
              <a:highlight>
                <a:srgbClr val="C0C0C0"/>
              </a:highlight>
            </a:endParaRPr>
          </a:p>
          <a:p>
            <a:pPr>
              <a:lnSpc>
                <a:spcPct val="150000"/>
              </a:lnSpc>
            </a:pPr>
            <a:r>
              <a:rPr lang="ko-KR" altLang="en-US" dirty="0"/>
              <a:t>채무자만큼 착취자나 채권자도 고통을 겪는다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양심이 없어서 편안한가</a:t>
            </a:r>
            <a:r>
              <a:rPr lang="en-US" altLang="ko-KR" dirty="0"/>
              <a:t>?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highlight>
                  <a:srgbClr val="C0C0C0"/>
                </a:highlight>
              </a:rPr>
              <a:t>착취와 탐욕</a:t>
            </a:r>
            <a:r>
              <a:rPr lang="en-US" altLang="ko-KR" dirty="0">
                <a:highlight>
                  <a:srgbClr val="C0C0C0"/>
                </a:highlight>
              </a:rPr>
              <a:t>(</a:t>
            </a:r>
            <a:r>
              <a:rPr lang="ko-KR" altLang="en-US" dirty="0">
                <a:highlight>
                  <a:srgbClr val="C0C0C0"/>
                </a:highlight>
              </a:rPr>
              <a:t>수단방법 가리지 않음</a:t>
            </a:r>
            <a:r>
              <a:rPr lang="en-US" altLang="ko-KR" dirty="0">
                <a:highlight>
                  <a:srgbClr val="C0C0C0"/>
                </a:highlight>
              </a:rPr>
              <a:t>)</a:t>
            </a:r>
            <a:r>
              <a:rPr lang="ko-KR" altLang="en-US" dirty="0">
                <a:highlight>
                  <a:srgbClr val="C0C0C0"/>
                </a:highlight>
              </a:rPr>
              <a:t>의 실행이</a:t>
            </a:r>
            <a:r>
              <a:rPr lang="en-US" altLang="ko-KR" dirty="0">
                <a:highlight>
                  <a:srgbClr val="C0C0C0"/>
                </a:highlight>
              </a:rPr>
              <a:t> </a:t>
            </a:r>
            <a:r>
              <a:rPr lang="ko-KR" altLang="en-US" dirty="0">
                <a:highlight>
                  <a:srgbClr val="C0C0C0"/>
                </a:highlight>
              </a:rPr>
              <a:t>불안과 긴장을 일시적으로 낮추는 중독적 회피 행동</a:t>
            </a:r>
            <a:r>
              <a:rPr lang="ko-KR" altLang="en-US" dirty="0"/>
              <a:t>이 될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2263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35EA28-D0AB-CD7A-015D-FB41071FE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타락한 기독교의 종교적 역기능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A7E4F6-9028-9668-AB90-5796E21E7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불안하다 → 더 움켜쥔다 → 비윤리적 행동을 한다 → 잠깐 안도한다 → </a:t>
            </a:r>
            <a:r>
              <a:rPr lang="ko-KR" altLang="en-US" dirty="0">
                <a:highlight>
                  <a:srgbClr val="C0C0C0"/>
                </a:highlight>
              </a:rPr>
              <a:t>다시 더 큰 불안과 방어 속으로 </a:t>
            </a:r>
            <a:r>
              <a:rPr lang="ko-KR" altLang="en-US" dirty="0"/>
              <a:t>들어간다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highlight>
                  <a:srgbClr val="C0C0C0"/>
                </a:highlight>
              </a:rPr>
              <a:t>불안과 긴장을 일시적으로 낮추는 중독적 회피 행동</a:t>
            </a:r>
            <a:endParaRPr lang="en-US" altLang="ko-KR" dirty="0">
              <a:highlight>
                <a:srgbClr val="C0C0C0"/>
              </a:highlight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highlight>
                  <a:srgbClr val="C0C0C0"/>
                </a:highlight>
              </a:rPr>
              <a:t>탐욕의 악순환</a:t>
            </a:r>
            <a:endParaRPr lang="en-US" altLang="ko-KR" dirty="0">
              <a:highlight>
                <a:srgbClr val="C0C0C0"/>
              </a:highlight>
            </a:endParaRPr>
          </a:p>
          <a:p>
            <a:pPr>
              <a:lnSpc>
                <a:spcPct val="150000"/>
              </a:lnSpc>
            </a:pPr>
            <a:r>
              <a:rPr lang="en-US" altLang="ko-KR" dirty="0"/>
              <a:t>Harvard</a:t>
            </a:r>
            <a:r>
              <a:rPr lang="ko-KR" altLang="en-US" dirty="0"/>
              <a:t>와 </a:t>
            </a:r>
            <a:r>
              <a:rPr lang="en-US" altLang="ko-KR" dirty="0"/>
              <a:t>UT Austin </a:t>
            </a:r>
            <a:r>
              <a:rPr lang="ko-KR" altLang="en-US" dirty="0"/>
              <a:t>공동연구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https://news.utexas.edu/2015/07/28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6937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6FC93B-9F13-7052-A363-E986662E2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물질주의와 탐욕은 낮은 행복</a:t>
            </a:r>
            <a:r>
              <a:rPr lang="en-US" altLang="ko-KR" sz="2400" dirty="0"/>
              <a:t>·</a:t>
            </a:r>
            <a:r>
              <a:rPr lang="ko-KR" altLang="en-US" sz="2400" dirty="0"/>
              <a:t>불안</a:t>
            </a:r>
            <a:r>
              <a:rPr lang="en-US" altLang="ko-KR" sz="2400" dirty="0"/>
              <a:t>·</a:t>
            </a:r>
            <a:r>
              <a:rPr lang="ko-KR" altLang="en-US" sz="2400" dirty="0"/>
              <a:t>우울과 관련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568268-40B8-E149-1125-4861EE39CF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물질주의</a:t>
            </a:r>
            <a:r>
              <a:rPr lang="en-US" altLang="ko-KR" dirty="0"/>
              <a:t>, </a:t>
            </a:r>
            <a:r>
              <a:rPr lang="ko-KR" altLang="en-US" dirty="0"/>
              <a:t>돈 중심 가치</a:t>
            </a:r>
            <a:r>
              <a:rPr lang="en-US" altLang="ko-KR" dirty="0"/>
              <a:t>, </a:t>
            </a:r>
            <a:r>
              <a:rPr lang="ko-KR" altLang="en-US" dirty="0"/>
              <a:t>소유 중심 정체성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>
                <a:highlight>
                  <a:srgbClr val="C0C0C0"/>
                </a:highlight>
              </a:rPr>
              <a:t>돈과 소유를 행복과 성공의 핵심으로 여기는 사람일수록 행복감</a:t>
            </a:r>
            <a:r>
              <a:rPr lang="en-US" altLang="ko-KR" dirty="0">
                <a:highlight>
                  <a:srgbClr val="C0C0C0"/>
                </a:highlight>
              </a:rPr>
              <a:t>, </a:t>
            </a:r>
            <a:r>
              <a:rPr lang="ko-KR" altLang="en-US" dirty="0">
                <a:highlight>
                  <a:srgbClr val="C0C0C0"/>
                </a:highlight>
              </a:rPr>
              <a:t>삶의 만족</a:t>
            </a:r>
            <a:r>
              <a:rPr lang="en-US" altLang="ko-KR" dirty="0">
                <a:highlight>
                  <a:srgbClr val="C0C0C0"/>
                </a:highlight>
              </a:rPr>
              <a:t>, </a:t>
            </a:r>
            <a:r>
              <a:rPr lang="ko-KR" altLang="en-US" dirty="0">
                <a:highlight>
                  <a:srgbClr val="C0C0C0"/>
                </a:highlight>
              </a:rPr>
              <a:t>활력은 낮고 우울 </a:t>
            </a:r>
            <a:r>
              <a:rPr lang="en-US" altLang="ko-KR" dirty="0">
                <a:highlight>
                  <a:srgbClr val="C0C0C0"/>
                </a:highlight>
              </a:rPr>
              <a:t>· </a:t>
            </a:r>
            <a:r>
              <a:rPr lang="ko-KR" altLang="en-US" dirty="0">
                <a:highlight>
                  <a:srgbClr val="C0C0C0"/>
                </a:highlight>
              </a:rPr>
              <a:t>불안 </a:t>
            </a:r>
            <a:r>
              <a:rPr lang="en-US" altLang="ko-KR" dirty="0">
                <a:highlight>
                  <a:srgbClr val="C0C0C0"/>
                </a:highlight>
              </a:rPr>
              <a:t>· </a:t>
            </a:r>
            <a:r>
              <a:rPr lang="ko-KR" altLang="en-US" dirty="0">
                <a:highlight>
                  <a:srgbClr val="C0C0C0"/>
                </a:highlight>
              </a:rPr>
              <a:t>정신병리 수준은 높게 나타난다</a:t>
            </a:r>
            <a:r>
              <a:rPr lang="ko-KR" altLang="en-US" dirty="0"/>
              <a:t>고 보고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sz="2200" dirty="0"/>
              <a:t>Dittmar </a:t>
            </a:r>
            <a:r>
              <a:rPr lang="ko-KR" altLang="en-US" sz="2200" dirty="0"/>
              <a:t>외</a:t>
            </a:r>
            <a:r>
              <a:rPr lang="en-US" altLang="ko-KR" sz="2200" dirty="0"/>
              <a:t>, The Relationship Between Materialism and Personal Well-Being: A Meta-Analysis (2014)</a:t>
            </a:r>
            <a:endParaRPr lang="ko-KR" altLang="en-US" sz="2200" dirty="0"/>
          </a:p>
        </p:txBody>
      </p:sp>
    </p:spTree>
    <p:extLst>
      <p:ext uri="{BB962C8B-B14F-4D97-AF65-F5344CB8AC3E}">
        <p14:creationId xmlns:p14="http://schemas.microsoft.com/office/powerpoint/2010/main" val="2047908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F32E2A-4177-6117-E142-A761D1FB4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 인생은 내 소유가 아니다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DD67F6-C3E2-0847-DC75-BC0C75634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6424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/>
              <a:t>땅을 쉬게 한다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잃어버린 기업이 회복된다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종이 된 이스라엘 형제가 자유를 얻어 가족과 기업으로 돌아간다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“토지는 다 내 </a:t>
            </a:r>
            <a:r>
              <a:rPr lang="ko-KR" altLang="en-US" dirty="0" err="1"/>
              <a:t>것임이니라</a:t>
            </a:r>
            <a:r>
              <a:rPr lang="en-US" altLang="ko-KR" dirty="0"/>
              <a:t>. </a:t>
            </a:r>
            <a:r>
              <a:rPr lang="ko-KR" altLang="en-US" dirty="0"/>
              <a:t>너희는 거류민이요 동거하는 자로서 나와 함께 있느니라”</a:t>
            </a:r>
            <a:r>
              <a:rPr lang="en-US" altLang="ko-KR" dirty="0"/>
              <a:t>(</a:t>
            </a:r>
            <a:r>
              <a:rPr lang="ko-KR" altLang="en-US" dirty="0"/>
              <a:t>레위기 </a:t>
            </a:r>
            <a:r>
              <a:rPr lang="en-US" altLang="ko-KR" dirty="0"/>
              <a:t>25:23)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53557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BA4042-2379-53C2-A31B-F47F7CC79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 err="1"/>
              <a:t>희년이</a:t>
            </a:r>
            <a:r>
              <a:rPr lang="ko-KR" altLang="en-US" sz="2800" dirty="0"/>
              <a:t> 말하는 자유는 ‘내 마음대로 사는 </a:t>
            </a:r>
            <a:r>
              <a:rPr lang="ko-KR" altLang="en-US" sz="2800" dirty="0" err="1"/>
              <a:t>자유’가</a:t>
            </a:r>
            <a:r>
              <a:rPr lang="ko-KR" altLang="en-US" sz="2800" dirty="0"/>
              <a:t> 아니다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E5D0E4-AB61-1B7D-A61A-B16C48F575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“내 백성을 보내라</a:t>
            </a:r>
            <a:r>
              <a:rPr lang="en-US" altLang="ko-KR" dirty="0"/>
              <a:t>. </a:t>
            </a:r>
            <a:r>
              <a:rPr lang="ko-KR" altLang="en-US" dirty="0"/>
              <a:t>그들이 광야에서 내 앞에 절기를 지킬 </a:t>
            </a:r>
            <a:r>
              <a:rPr lang="ko-KR" altLang="en-US" dirty="0" err="1"/>
              <a:t>것이니라</a:t>
            </a:r>
            <a:r>
              <a:rPr lang="ko-KR" altLang="en-US" dirty="0"/>
              <a:t>”</a:t>
            </a:r>
            <a:r>
              <a:rPr lang="en-US" altLang="ko-KR" dirty="0"/>
              <a:t>(</a:t>
            </a:r>
            <a:r>
              <a:rPr lang="ko-KR" altLang="en-US" dirty="0"/>
              <a:t>출애굽기 </a:t>
            </a:r>
            <a:r>
              <a:rPr lang="en-US" altLang="ko-KR" dirty="0"/>
              <a:t>5:1)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highlight>
                  <a:srgbClr val="C0C0C0"/>
                </a:highlight>
              </a:rPr>
              <a:t>자유의 목적은 예배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하나님을 예배하지 않는 자유는 결국 다른 우상을 섬기는 종살이로 바뀜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돈의 종</a:t>
            </a:r>
            <a:r>
              <a:rPr lang="en-US" altLang="ko-KR" dirty="0"/>
              <a:t>, </a:t>
            </a:r>
            <a:r>
              <a:rPr lang="ko-KR" altLang="en-US" dirty="0"/>
              <a:t>성공의 종</a:t>
            </a:r>
            <a:r>
              <a:rPr lang="en-US" altLang="ko-KR" dirty="0"/>
              <a:t>, </a:t>
            </a:r>
            <a:r>
              <a:rPr lang="ko-KR" altLang="en-US" dirty="0"/>
              <a:t>사람의 평가의 종</a:t>
            </a:r>
            <a:r>
              <a:rPr lang="en-US" altLang="ko-KR" dirty="0"/>
              <a:t>, </a:t>
            </a:r>
            <a:r>
              <a:rPr lang="ko-KR" altLang="en-US" dirty="0"/>
              <a:t>두려움의 종</a:t>
            </a:r>
            <a:r>
              <a:rPr lang="en-US" altLang="ko-KR" dirty="0"/>
              <a:t>, </a:t>
            </a:r>
            <a:r>
              <a:rPr lang="ko-KR" altLang="en-US" dirty="0"/>
              <a:t>욕망의 종</a:t>
            </a:r>
            <a:r>
              <a:rPr lang="en-US" altLang="ko-KR" dirty="0"/>
              <a:t>, </a:t>
            </a:r>
            <a:r>
              <a:rPr lang="ko-KR" altLang="en-US" dirty="0"/>
              <a:t>이념의 종이 되는 것</a:t>
            </a:r>
          </a:p>
        </p:txBody>
      </p:sp>
    </p:spTree>
    <p:extLst>
      <p:ext uri="{BB962C8B-B14F-4D97-AF65-F5344CB8AC3E}">
        <p14:creationId xmlns:p14="http://schemas.microsoft.com/office/powerpoint/2010/main" val="3028452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9E9907-0D1F-F0E1-99B9-974CEDCD8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예수님은 </a:t>
            </a:r>
            <a:r>
              <a:rPr lang="ko-KR" altLang="en-US" dirty="0" err="1"/>
              <a:t>희년을</a:t>
            </a:r>
            <a:r>
              <a:rPr lang="ko-KR" altLang="en-US" dirty="0"/>
              <a:t> 성취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099765-590D-9079-C6B4-0820E01AE2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/>
              <a:t>“주의 성령이 내게 임하셨으니 이는 가난한 자에게 복음을 전하게 하시려고 내게 기름을 부으시고</a:t>
            </a:r>
            <a:r>
              <a:rPr lang="en-US" altLang="ko-KR" dirty="0"/>
              <a:t>… </a:t>
            </a:r>
            <a:r>
              <a:rPr lang="ko-KR" altLang="en-US" dirty="0"/>
              <a:t>포로 된 자에게 자유를</a:t>
            </a:r>
            <a:r>
              <a:rPr lang="en-US" altLang="ko-KR" dirty="0"/>
              <a:t>, </a:t>
            </a:r>
            <a:r>
              <a:rPr lang="ko-KR" altLang="en-US" dirty="0"/>
              <a:t>눈먼 자에게 다시 보게 함을 전파하며 눌린 자를 자유롭게 하고 주의 은혜의 해를 전파하게 하려 하심이라”</a:t>
            </a:r>
            <a:r>
              <a:rPr lang="en-US" altLang="ko-KR" dirty="0"/>
              <a:t>(</a:t>
            </a:r>
            <a:r>
              <a:rPr lang="ko-KR" altLang="en-US" dirty="0"/>
              <a:t>누가복음 </a:t>
            </a:r>
            <a:r>
              <a:rPr lang="en-US" altLang="ko-KR" dirty="0"/>
              <a:t>4:18-19)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“아들이 너희를 자유롭게 하면 너희가 참으로 자유로우리라”</a:t>
            </a:r>
            <a:r>
              <a:rPr lang="en-US" altLang="ko-KR" dirty="0"/>
              <a:t>(</a:t>
            </a:r>
            <a:r>
              <a:rPr lang="ko-KR" altLang="en-US" dirty="0"/>
              <a:t>요한복음 </a:t>
            </a:r>
            <a:r>
              <a:rPr lang="en-US" altLang="ko-KR" dirty="0"/>
              <a:t>8:36)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00093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7253BD-2C7E-6CCA-9D86-FAC1C9758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죄사함과 해방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B5D9BD-8700-05BA-D85F-5303975C07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/>
              <a:t>이스라엘은 </a:t>
            </a:r>
            <a:r>
              <a:rPr lang="en-US" altLang="ko-KR" dirty="0"/>
              <a:t>7</a:t>
            </a:r>
            <a:r>
              <a:rPr lang="ko-KR" altLang="en-US" dirty="0" err="1"/>
              <a:t>년마다</a:t>
            </a:r>
            <a:r>
              <a:rPr lang="ko-KR" altLang="en-US" dirty="0"/>
              <a:t> 안식년을 지키고</a:t>
            </a:r>
            <a:r>
              <a:rPr lang="en-US" altLang="ko-KR" dirty="0"/>
              <a:t>, </a:t>
            </a:r>
            <a:r>
              <a:rPr lang="ko-KR" altLang="en-US" dirty="0"/>
              <a:t>그 안식년을 일곱 번 센 뒤 </a:t>
            </a:r>
            <a:r>
              <a:rPr lang="en-US" altLang="ko-KR" dirty="0"/>
              <a:t>50</a:t>
            </a:r>
            <a:r>
              <a:rPr lang="ko-KR" altLang="en-US" dirty="0"/>
              <a:t>년째 해를 </a:t>
            </a:r>
            <a:r>
              <a:rPr lang="ko-KR" altLang="en-US" dirty="0" err="1"/>
              <a:t>희년으로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“일곱째 달 열흘날은 </a:t>
            </a:r>
            <a:r>
              <a:rPr lang="ko-KR" altLang="en-US" dirty="0" err="1"/>
              <a:t>속죄일이니</a:t>
            </a:r>
            <a:r>
              <a:rPr lang="ko-KR" altLang="en-US" dirty="0"/>
              <a:t> 너는 </a:t>
            </a:r>
            <a:r>
              <a:rPr lang="ko-KR" altLang="en-US" dirty="0" err="1"/>
              <a:t>뿔나팔</a:t>
            </a:r>
            <a:r>
              <a:rPr lang="ko-KR" altLang="en-US" dirty="0"/>
              <a:t> 소리를 내되 전국에서 뿔나팔을 크게 </a:t>
            </a:r>
            <a:r>
              <a:rPr lang="ko-KR" altLang="en-US" dirty="0" err="1"/>
              <a:t>불지며”라고</a:t>
            </a:r>
            <a:r>
              <a:rPr lang="ko-KR" altLang="en-US" dirty="0"/>
              <a:t> 명령합니다</a:t>
            </a:r>
            <a:r>
              <a:rPr lang="en-US" altLang="ko-KR" dirty="0"/>
              <a:t>(</a:t>
            </a:r>
            <a:r>
              <a:rPr lang="ko-KR" altLang="en-US" dirty="0"/>
              <a:t>레위기 </a:t>
            </a:r>
            <a:r>
              <a:rPr lang="en-US" altLang="ko-KR" dirty="0"/>
              <a:t>25:9)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단순한 사회적 해방이 아니라 속죄 위에 세워진 자유</a:t>
            </a:r>
          </a:p>
        </p:txBody>
      </p:sp>
    </p:spTree>
    <p:extLst>
      <p:ext uri="{BB962C8B-B14F-4D97-AF65-F5344CB8AC3E}">
        <p14:creationId xmlns:p14="http://schemas.microsoft.com/office/powerpoint/2010/main" val="29002395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4C9379-E70E-5642-C724-9D505E2F6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그리스도가 모든 것을 성취하심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F3E6CB-E226-4B4B-1AC7-6A80606882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60000"/>
              </a:lnSpc>
            </a:pPr>
            <a:r>
              <a:rPr lang="he-IL" altLang="ko-KR" dirty="0"/>
              <a:t>גֹּאֵל, </a:t>
            </a:r>
            <a:r>
              <a:rPr lang="en-US" altLang="ko-KR" dirty="0"/>
              <a:t> </a:t>
            </a:r>
            <a:r>
              <a:rPr lang="ko-KR" altLang="en-US" dirty="0" err="1"/>
              <a:t>고엘</a:t>
            </a:r>
            <a:r>
              <a:rPr lang="en-US" altLang="ko-KR" dirty="0"/>
              <a:t>, Redeemer (</a:t>
            </a:r>
            <a:r>
              <a:rPr lang="ko-KR" altLang="en-US" dirty="0"/>
              <a:t>구속자</a:t>
            </a:r>
            <a:r>
              <a:rPr lang="en-US" altLang="ko-KR" dirty="0"/>
              <a:t>)</a:t>
            </a:r>
          </a:p>
          <a:p>
            <a:pPr>
              <a:lnSpc>
                <a:spcPct val="160000"/>
              </a:lnSpc>
            </a:pPr>
            <a:r>
              <a:rPr lang="ko-KR" altLang="en-US" dirty="0"/>
              <a:t>“만일 네 형제가 가난하여 그의 기업 중에서 얼마를 팔았으면 그에게 가까운 </a:t>
            </a:r>
            <a:r>
              <a:rPr lang="ko-KR" altLang="en-US" dirty="0">
                <a:highlight>
                  <a:srgbClr val="C0C0C0"/>
                </a:highlight>
              </a:rPr>
              <a:t>기업 무를 자</a:t>
            </a:r>
            <a:r>
              <a:rPr lang="ko-KR" altLang="en-US" dirty="0"/>
              <a:t>가 와서 그의 형제가 판 것을 무를 것이요”</a:t>
            </a:r>
            <a:r>
              <a:rPr lang="en-US" altLang="ko-KR" dirty="0"/>
              <a:t>(</a:t>
            </a:r>
            <a:r>
              <a:rPr lang="ko-KR" altLang="en-US" dirty="0"/>
              <a:t>레 </a:t>
            </a:r>
            <a:r>
              <a:rPr lang="en-US" altLang="ko-KR" dirty="0"/>
              <a:t>25:25)</a:t>
            </a:r>
          </a:p>
          <a:p>
            <a:pPr>
              <a:lnSpc>
                <a:spcPct val="160000"/>
              </a:lnSpc>
            </a:pPr>
            <a:r>
              <a:rPr lang="ko-KR" altLang="en-US" dirty="0"/>
              <a:t>종이 된 사람을 자유롭게 </a:t>
            </a:r>
            <a:r>
              <a:rPr lang="ko-KR" altLang="en-US" dirty="0" err="1"/>
              <a:t>속량</a:t>
            </a:r>
            <a:endParaRPr lang="en-US" altLang="ko-KR" dirty="0"/>
          </a:p>
          <a:p>
            <a:pPr>
              <a:lnSpc>
                <a:spcPct val="160000"/>
              </a:lnSpc>
            </a:pPr>
            <a:r>
              <a:rPr lang="ko-KR" altLang="en-US" dirty="0"/>
              <a:t>“그의 형제 중 하나가 그를 속량하거나 그의 삼촌이나 그의 사촌이 그를 속량하거나 그의 혈족 중 하나가 그를 속량할 것이요”</a:t>
            </a:r>
            <a:r>
              <a:rPr lang="en-US" altLang="ko-KR" dirty="0"/>
              <a:t>(</a:t>
            </a:r>
            <a:r>
              <a:rPr lang="ko-KR" altLang="en-US" dirty="0"/>
              <a:t>레 </a:t>
            </a:r>
            <a:r>
              <a:rPr lang="en-US" altLang="ko-KR" dirty="0"/>
              <a:t>25:48-49)</a:t>
            </a:r>
          </a:p>
          <a:p>
            <a:pPr>
              <a:lnSpc>
                <a:spcPct val="160000"/>
              </a:lnSpc>
            </a:pPr>
            <a:r>
              <a:rPr lang="ko-KR" altLang="en-US" dirty="0"/>
              <a:t>잃어버린 자유</a:t>
            </a:r>
            <a:r>
              <a:rPr lang="en-US" altLang="ko-KR" dirty="0"/>
              <a:t>, </a:t>
            </a:r>
            <a:r>
              <a:rPr lang="ko-KR" altLang="en-US" dirty="0"/>
              <a:t>잃어버린 기업</a:t>
            </a:r>
            <a:r>
              <a:rPr lang="en-US" altLang="ko-KR" dirty="0"/>
              <a:t>, </a:t>
            </a:r>
            <a:r>
              <a:rPr lang="ko-KR" altLang="en-US" dirty="0"/>
              <a:t>잃어버린 이름</a:t>
            </a:r>
            <a:r>
              <a:rPr lang="en-US" altLang="ko-KR" dirty="0"/>
              <a:t>, </a:t>
            </a:r>
            <a:r>
              <a:rPr lang="ko-KR" altLang="en-US" dirty="0"/>
              <a:t>잃어버린 미래를 회복시키는 사람</a:t>
            </a:r>
          </a:p>
        </p:txBody>
      </p:sp>
    </p:spTree>
    <p:extLst>
      <p:ext uri="{BB962C8B-B14F-4D97-AF65-F5344CB8AC3E}">
        <p14:creationId xmlns:p14="http://schemas.microsoft.com/office/powerpoint/2010/main" val="212608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6EBAB2-722D-DC93-7C68-869C3B909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제자는 누군가의 작은 </a:t>
            </a:r>
            <a:r>
              <a:rPr lang="ko-KR" altLang="en-US" dirty="0" err="1"/>
              <a:t>고엘이</a:t>
            </a:r>
            <a:r>
              <a:rPr lang="ko-KR" altLang="en-US" dirty="0"/>
              <a:t> 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1479D4-5066-708B-4750-F6AC0ACAA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/>
              <a:t>잃어버린 자유</a:t>
            </a:r>
            <a:r>
              <a:rPr lang="en-US" altLang="ko-KR" dirty="0"/>
              <a:t>, </a:t>
            </a:r>
            <a:r>
              <a:rPr lang="ko-KR" altLang="en-US" dirty="0"/>
              <a:t>잃어버린 기업</a:t>
            </a:r>
            <a:r>
              <a:rPr lang="en-US" altLang="ko-KR" dirty="0"/>
              <a:t>, </a:t>
            </a:r>
            <a:r>
              <a:rPr lang="ko-KR" altLang="en-US" dirty="0"/>
              <a:t>잃어버린 이름</a:t>
            </a:r>
            <a:r>
              <a:rPr lang="en-US" altLang="ko-KR" dirty="0"/>
              <a:t>, </a:t>
            </a:r>
            <a:r>
              <a:rPr lang="ko-KR" altLang="en-US" dirty="0"/>
              <a:t>잃어버린 미래를 회복시키는 권세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 err="1"/>
              <a:t>룻이</a:t>
            </a:r>
            <a:r>
              <a:rPr lang="ko-KR" altLang="en-US" dirty="0"/>
              <a:t> 타작마당에서 </a:t>
            </a:r>
            <a:r>
              <a:rPr lang="ko-KR" altLang="en-US" dirty="0" err="1"/>
              <a:t>보아스에게</a:t>
            </a:r>
            <a:r>
              <a:rPr lang="ko-KR" altLang="en-US" dirty="0"/>
              <a:t> 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“</a:t>
            </a:r>
            <a:r>
              <a:rPr lang="ko-KR" altLang="en-US" dirty="0"/>
              <a:t>당신의 옷자락을 펴 당신의 여종을 </a:t>
            </a:r>
            <a:r>
              <a:rPr lang="ko-KR" altLang="en-US" dirty="0" err="1"/>
              <a:t>덮으소서</a:t>
            </a:r>
            <a:r>
              <a:rPr lang="ko-KR" altLang="en-US" dirty="0"/>
              <a:t> 이는 당신이 기업을 무를 자가 </a:t>
            </a:r>
            <a:r>
              <a:rPr lang="ko-KR" altLang="en-US" dirty="0" err="1"/>
              <a:t>됨이니이다</a:t>
            </a:r>
            <a:r>
              <a:rPr lang="ko-KR" altLang="en-US" dirty="0"/>
              <a:t>”</a:t>
            </a:r>
            <a:r>
              <a:rPr lang="en-US" altLang="ko-KR" dirty="0"/>
              <a:t>(</a:t>
            </a:r>
            <a:r>
              <a:rPr lang="ko-KR" altLang="en-US" dirty="0" err="1"/>
              <a:t>룻</a:t>
            </a:r>
            <a:r>
              <a:rPr lang="ko-KR" altLang="en-US" dirty="0"/>
              <a:t> </a:t>
            </a:r>
            <a:r>
              <a:rPr lang="en-US" altLang="ko-KR" dirty="0"/>
              <a:t>3:9)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3829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2731</TotalTime>
  <Words>505</Words>
  <Application>Microsoft Office PowerPoint</Application>
  <PresentationFormat>와이드스크린</PresentationFormat>
  <Paragraphs>47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     레위기 제12강 희년의 자유와 해방 </vt:lpstr>
      <vt:lpstr>교회의 타락과 길흉화복의 종교생활</vt:lpstr>
      <vt:lpstr>타락한 기독교의 종교적 역기능</vt:lpstr>
      <vt:lpstr>물질주의와 탐욕은 낮은 행복·불안·우울과 관련</vt:lpstr>
      <vt:lpstr>내 인생은 내 소유가 아니다</vt:lpstr>
      <vt:lpstr>희년이 말하는 자유는 ‘내 마음대로 사는 자유’가 아니다</vt:lpstr>
      <vt:lpstr>예수님은 희년을 성취</vt:lpstr>
      <vt:lpstr>죄사함과 해방</vt:lpstr>
      <vt:lpstr>그리스도가 모든 것을 성취하심</vt:lpstr>
      <vt:lpstr>제자는 누군가의 작은 고엘이 됨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Junghoon Lee</dc:creator>
  <cp:lastModifiedBy>Junghoon Lee</cp:lastModifiedBy>
  <cp:revision>103</cp:revision>
  <dcterms:created xsi:type="dcterms:W3CDTF">2024-06-23T00:06:02Z</dcterms:created>
  <dcterms:modified xsi:type="dcterms:W3CDTF">2026-05-15T02:45:53Z</dcterms:modified>
</cp:coreProperties>
</file>