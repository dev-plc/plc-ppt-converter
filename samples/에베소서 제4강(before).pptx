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4A567-3058-40A2-972A-627555CE965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A8DC1-97FE-4A23-90FA-B6465DB41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10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BA83C-F57E-E3D1-E458-75F3C9CC2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AEDF71-71CF-D8B1-8CE6-81F0F1344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A98B1-55DE-7092-5977-13A7BDA0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D941B-3FE9-4F1C-08EF-825F169C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4E72A-47D3-38AF-8D09-DD6DAF09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17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64FB9-1392-14B9-18F3-6CB30192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8560D-3841-3B0A-DDB8-DDE6600B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03A91-FEBC-03CE-0E42-ED0A9B88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ECE90-2140-DB0C-F1C5-784C344D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0A5DB-9825-7DCF-24AB-A8B1F528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42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391D2-F73E-42EA-9357-0425E9B9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92F15-61D9-1F56-2B06-496E65569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6B3D56-4CFD-6509-9B07-552C8B4E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B60EC-6D10-D8B5-A844-FE07A08A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96CF5C-5896-8382-1426-48E06F60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65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0255A-B54B-52AB-854D-44774398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876BB-3DE8-55F2-D152-D301E1250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6F1298-FADC-D596-3A8A-3DF50D7A3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310998-7BD8-7A7D-2F47-1C22B193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0D3ADD-44B1-6B55-F010-3C61389F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BF5286-CCFA-5488-05A2-BF742C06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62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70F64-3A9B-C13D-29E8-16356B49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AB8B6-4EEE-15B0-1F90-5B1FADE4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0FF0B-B082-8419-5547-C6647E4C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A468B4-C5AF-724A-3006-04D2E8126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FFEC6A-B684-7905-C061-E75401329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146519-DEC9-22DC-9B3B-83EAB553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F00785-DDD6-8C1A-538E-7668AE15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0A8EAA-68BA-DEEC-CE7D-31B2324A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2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FFBB4-77F8-FFA7-3C21-2F928850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F015B-5434-7028-5EB5-0383450A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C5548-E155-92CB-22B6-5F24058C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883A60-E2C2-0FA3-CFCE-00AE7327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86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9FBAD9-88B2-D054-8EBF-8D8FADF9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62D57A-188F-07CA-6C43-5D8FB9E3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A5C25-C18A-CE00-53B7-9159B910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79FE1-EC48-FB86-0F30-943C0F57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538B-B857-502E-AD94-CFF09A6E2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43D37-9130-1EEC-6AFE-529688905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976577-0369-2BD7-AE56-1CF469E1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1430CC-36A6-8041-5412-4303F699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4F0493-0261-BD10-9AB8-39976DC4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9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4010E-7FA3-3538-403C-E6BA5FF9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C81C86-AB92-E79F-5602-97B2DD2A1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EDF37F-DEC7-1C54-F8A0-E02F8D6C8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CA531-E088-20D9-BA40-2AAAB77E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2847F-BA74-F63F-5232-101DEAF5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A640C5-D48B-3866-4E12-1A33AB1C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27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0862C-956E-5B1D-BBA4-B3B03584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4F036F-77BE-C9FA-AFF2-5B38EBC9A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71EC2-C2C8-3FFC-1A1C-9EA5F4C6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C8DAA-8158-9ED3-ECDA-94AD2E93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8D6BB-10F9-6759-0158-AF614655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40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51D6EC-D641-97F7-B35B-1EDDC675A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2E4EE-BA5E-87DD-EC1F-196D30D3F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AD578-9073-D0A1-3CEE-CBCA4E14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6DBEB-3D9A-F1A6-4844-6E877502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1FD1F-9205-F863-F6F9-18B4326C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2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3CFE6A-2454-D572-8D96-CFA62FEE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70535-185E-CB66-FF46-E33240B5E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B5C9B-30FF-A09B-6FDD-4916BE89B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D79E9-5EF9-4A61-8EDD-D0BF8DF2E1FF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3659D-EB41-D9A8-954E-AC2D900CB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88AA7-FC8B-C266-D450-E86ECD6C4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3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160B8-78ED-75BA-17FA-9AD183C96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5508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ko-KR" sz="4000" dirty="0"/>
            </a:br>
            <a:br>
              <a:rPr lang="en-US" altLang="ko-KR" sz="4000" dirty="0"/>
            </a:br>
            <a:br>
              <a:rPr lang="en-US" altLang="ko-KR" sz="4000" dirty="0"/>
            </a:br>
            <a:br>
              <a:rPr lang="en-US" altLang="ko-KR" sz="4000" dirty="0"/>
            </a:br>
            <a:br>
              <a:rPr lang="en-US" altLang="ko-KR" sz="4000" dirty="0"/>
            </a:br>
            <a:r>
              <a:rPr lang="ko-KR" altLang="en-US" sz="4000" dirty="0"/>
              <a:t>에베소서 제</a:t>
            </a:r>
            <a:r>
              <a:rPr lang="en-US" altLang="ko-KR" sz="4000" dirty="0"/>
              <a:t>4</a:t>
            </a:r>
            <a:r>
              <a:rPr lang="ko-KR" altLang="en-US" sz="4000" dirty="0"/>
              <a:t>강</a:t>
            </a:r>
            <a:br>
              <a:rPr lang="en-US" altLang="ko-KR" sz="4000" dirty="0"/>
            </a:br>
            <a:br>
              <a:rPr lang="en-US" altLang="ko-KR" sz="4000" dirty="0"/>
            </a:br>
            <a:r>
              <a:rPr lang="ko-KR" altLang="en-US" sz="4000"/>
              <a:t>영적 성숙의 참된 제자도</a:t>
            </a:r>
            <a:endParaRPr lang="ko-KR" altLang="en-US" sz="31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EB0261-BB3A-8648-9C54-D94B5DA5A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513" y="3429000"/>
            <a:ext cx="9144000" cy="165576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Rev. Dr. Paul Junghoon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64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DFAE8-F66C-AC14-9D70-958612A3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가정을 이상화 하거나 우상화 하는 목회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E3B06-BBB7-A176-54B4-75484F7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창</a:t>
            </a:r>
            <a:r>
              <a:rPr lang="en-US" altLang="ko-KR" dirty="0"/>
              <a:t>2:24 "</a:t>
            </a:r>
            <a:r>
              <a:rPr lang="ko-KR" altLang="en-US" dirty="0"/>
              <a:t>이러므로 남자가 부모를 떠나 그의 아내와 합하여 둘이 한 몸을 </a:t>
            </a:r>
            <a:r>
              <a:rPr lang="ko-KR" altLang="en-US" dirty="0" err="1"/>
              <a:t>이룰지로다</a:t>
            </a:r>
            <a:r>
              <a:rPr lang="en-US" altLang="ko-KR" dirty="0"/>
              <a:t>＂</a:t>
            </a:r>
            <a:r>
              <a:rPr lang="ko-KR" altLang="en-US" dirty="0"/>
              <a:t>는 기독교 가족 신학의 기초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'</a:t>
            </a:r>
            <a:r>
              <a:rPr lang="ko-KR" altLang="en-US" dirty="0"/>
              <a:t>떠남</a:t>
            </a:r>
            <a:r>
              <a:rPr lang="en-US" altLang="ko-KR" dirty="0"/>
              <a:t>(Separation)'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ko-KR" altLang="en-US" dirty="0"/>
              <a:t>연합</a:t>
            </a:r>
            <a:r>
              <a:rPr lang="en-US" altLang="ko-KR" dirty="0"/>
              <a:t>(Cleaving)'</a:t>
            </a:r>
            <a:r>
              <a:rPr lang="ko-KR" altLang="en-US" dirty="0"/>
              <a:t>의 원리로 설명</a:t>
            </a:r>
            <a:r>
              <a:rPr lang="en-US" altLang="ko-KR" dirty="0"/>
              <a:t>(John Stott).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성경적 가족은 부모로부터의 독립</a:t>
            </a:r>
            <a:r>
              <a:rPr lang="en-US" altLang="ko-KR" dirty="0"/>
              <a:t>(</a:t>
            </a:r>
            <a:r>
              <a:rPr lang="ko-KR" altLang="en-US" dirty="0"/>
              <a:t>심리적</a:t>
            </a:r>
            <a:r>
              <a:rPr lang="en-US" altLang="ko-KR" dirty="0"/>
              <a:t>, </a:t>
            </a:r>
            <a:r>
              <a:rPr lang="ko-KR" altLang="en-US" dirty="0"/>
              <a:t>경제적 경계 세우기</a:t>
            </a:r>
            <a:r>
              <a:rPr lang="en-US" altLang="ko-KR" dirty="0"/>
              <a:t>)</a:t>
            </a:r>
            <a:r>
              <a:rPr lang="ko-KR" altLang="en-US" dirty="0"/>
              <a:t>이 전제될 때 비로소 건강한 연합이 가능함을 명시</a:t>
            </a:r>
          </a:p>
        </p:txBody>
      </p:sp>
    </p:spTree>
    <p:extLst>
      <p:ext uri="{BB962C8B-B14F-4D97-AF65-F5344CB8AC3E}">
        <p14:creationId xmlns:p14="http://schemas.microsoft.com/office/powerpoint/2010/main" val="116253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6F80E-F459-E62F-E02D-AF68A2BF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타락으로 인한 가족의 역기능과 </a:t>
            </a:r>
            <a:r>
              <a:rPr lang="en-US" altLang="ko-KR" sz="3200" dirty="0"/>
              <a:t>'</a:t>
            </a:r>
            <a:r>
              <a:rPr lang="ko-KR" altLang="en-US" sz="3200" dirty="0"/>
              <a:t>원수</a:t>
            </a:r>
            <a:r>
              <a:rPr lang="en-US" altLang="ko-KR" sz="3200" dirty="0"/>
              <a:t>' </a:t>
            </a:r>
            <a:r>
              <a:rPr lang="ko-KR" altLang="en-US" sz="3200" dirty="0"/>
              <a:t>된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CCE783-EC03-16D1-761E-8C12E37A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"</a:t>
            </a:r>
            <a:r>
              <a:rPr lang="ko-KR" altLang="en-US" dirty="0"/>
              <a:t>사람의 원수가 자기 집안 식구리라</a:t>
            </a:r>
            <a:r>
              <a:rPr lang="en-US" altLang="ko-KR" dirty="0"/>
              <a:t>" (</a:t>
            </a:r>
            <a:r>
              <a:rPr lang="ko-KR" altLang="en-US" dirty="0"/>
              <a:t>마태복음 </a:t>
            </a:r>
            <a:r>
              <a:rPr lang="en-US" altLang="ko-KR" dirty="0"/>
              <a:t>10:36)“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무릇 내게 오는 자가 자기 부모와 처자와 형제와 자매와 더욱이 자기 목숨까지 미워하지 아니하면 능히 내 제자가 되지 못하고</a:t>
            </a:r>
            <a:r>
              <a:rPr lang="en-US" altLang="ko-KR" dirty="0"/>
              <a:t>" (</a:t>
            </a:r>
            <a:r>
              <a:rPr lang="ko-KR" altLang="en-US" dirty="0"/>
              <a:t>누가복음 </a:t>
            </a:r>
            <a:r>
              <a:rPr lang="en-US" altLang="ko-KR" dirty="0"/>
              <a:t>14:26)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영적 우선순위의 재정립</a:t>
            </a:r>
            <a:endParaRPr lang="en-US" altLang="ko-KR" dirty="0">
              <a:highlight>
                <a:srgbClr val="C0C0C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가정이 하나님 나라의 절대적 가치를 가로막을 때</a:t>
            </a:r>
            <a:r>
              <a:rPr lang="en-US" altLang="ko-KR" dirty="0"/>
              <a:t>, </a:t>
            </a:r>
            <a:r>
              <a:rPr lang="ko-KR" altLang="en-US" dirty="0"/>
              <a:t>그것은 영혼의 원수가 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17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F2D56-3970-32BA-FC8F-D721BDDA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죄 속에 있다는 현실을 자각하라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5C5B8-955F-147E-D623-D64B91681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어린 시절 가정에서 겪은 정서적 방임과 상처는 성인이 되어서도 신체와 뇌</a:t>
            </a:r>
            <a:r>
              <a:rPr lang="en-US" altLang="ko-KR" dirty="0"/>
              <a:t>, </a:t>
            </a:r>
            <a:r>
              <a:rPr lang="ko-KR" altLang="en-US" dirty="0"/>
              <a:t>영혼에 고스란히 남아 삶을 파괴한다고 경고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인간이 유아기에 양육자와 맺는 관계가 평생의 심리적 안정감과 대인관계 패턴을 결정짓는 </a:t>
            </a:r>
            <a:r>
              <a:rPr lang="en-US" altLang="ko-KR" dirty="0"/>
              <a:t>'</a:t>
            </a:r>
            <a:r>
              <a:rPr lang="ko-KR" altLang="en-US" dirty="0"/>
              <a:t>내적 작동 모델</a:t>
            </a:r>
            <a:r>
              <a:rPr lang="en-US" altLang="ko-KR" dirty="0"/>
              <a:t>'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양육자가 비난과 거부</a:t>
            </a:r>
            <a:r>
              <a:rPr lang="en-US" altLang="ko-KR" dirty="0"/>
              <a:t>, </a:t>
            </a:r>
            <a:r>
              <a:rPr lang="ko-KR" altLang="en-US" dirty="0"/>
              <a:t>혹은 과도한 통제로 일관할 때</a:t>
            </a:r>
            <a:r>
              <a:rPr lang="en-US" altLang="ko-KR" dirty="0"/>
              <a:t>, </a:t>
            </a:r>
            <a:r>
              <a:rPr lang="ko-KR" altLang="en-US" dirty="0"/>
              <a:t>자녀의 내면에는 평생을 괴롭히는 심리적 불안과 낮은 자존감이라는 감옥이 형성 됨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존 </a:t>
            </a:r>
            <a:r>
              <a:rPr lang="ko-KR" altLang="en-US" dirty="0" err="1"/>
              <a:t>볼비</a:t>
            </a:r>
            <a:r>
              <a:rPr lang="en-US" altLang="ko-KR" dirty="0"/>
              <a:t>(John Bowlby), </a:t>
            </a:r>
            <a:r>
              <a:rPr lang="ko-KR" altLang="en-US" dirty="0"/>
              <a:t>베셀 반 더 </a:t>
            </a:r>
            <a:r>
              <a:rPr lang="ko-KR" altLang="en-US" dirty="0" err="1"/>
              <a:t>콜크</a:t>
            </a:r>
            <a:r>
              <a:rPr lang="en-US" altLang="ko-KR" dirty="0"/>
              <a:t>(Bessel van der Kolk)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998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D8946-8576-2F9F-E042-03E4F40D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4290F9-B71E-5416-B030-AAD797E9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'</a:t>
            </a:r>
            <a:r>
              <a:rPr lang="ko-KR" altLang="en-US" dirty="0"/>
              <a:t>노엽게 하다</a:t>
            </a:r>
            <a:r>
              <a:rPr lang="en-US" altLang="ko-KR" dirty="0"/>
              <a:t>'</a:t>
            </a:r>
            <a:r>
              <a:rPr lang="ko-KR" altLang="en-US" dirty="0"/>
              <a:t>는 헬라어는 단지 일시적인 화를 돋우는 것이 아니라</a:t>
            </a:r>
            <a:r>
              <a:rPr lang="en-US" altLang="ko-KR" dirty="0"/>
              <a:t>, </a:t>
            </a:r>
            <a:r>
              <a:rPr lang="ko-KR" altLang="en-US" dirty="0"/>
              <a:t>반복적이고 부당한 대우로 인해 자녀의 마음속 깊은 곳에 </a:t>
            </a:r>
            <a:r>
              <a:rPr lang="en-US" altLang="ko-KR" dirty="0"/>
              <a:t>'</a:t>
            </a:r>
            <a:r>
              <a:rPr lang="ko-KR" altLang="en-US" dirty="0"/>
              <a:t>원망과 깊은 원한</a:t>
            </a:r>
            <a:r>
              <a:rPr lang="en-US" altLang="ko-KR" dirty="0"/>
              <a:t>, </a:t>
            </a:r>
            <a:r>
              <a:rPr lang="ko-KR" altLang="en-US" dirty="0"/>
              <a:t>그리고</a:t>
            </a:r>
            <a:r>
              <a:rPr lang="en-US" altLang="ko-KR" dirty="0"/>
              <a:t> </a:t>
            </a:r>
            <a:r>
              <a:rPr lang="ko-KR" altLang="en-US" dirty="0"/>
              <a:t>무력감</a:t>
            </a:r>
            <a:r>
              <a:rPr lang="en-US" altLang="ko-KR" dirty="0"/>
              <a:t>'</a:t>
            </a:r>
            <a:r>
              <a:rPr lang="ko-KR" altLang="en-US" dirty="0"/>
              <a:t>을 심어주는 것을 의미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로마 시대의 </a:t>
            </a:r>
            <a:r>
              <a:rPr lang="en-US" altLang="ko-KR" dirty="0"/>
              <a:t>'</a:t>
            </a:r>
            <a:r>
              <a:rPr lang="ko-KR" altLang="en-US" dirty="0"/>
              <a:t>가부장권</a:t>
            </a:r>
            <a:r>
              <a:rPr lang="en-US" altLang="ko-KR" dirty="0"/>
              <a:t>(Patria </a:t>
            </a:r>
            <a:r>
              <a:rPr lang="en-US" altLang="ko-KR" dirty="0" err="1"/>
              <a:t>Potestas</a:t>
            </a:r>
            <a:r>
              <a:rPr lang="en-US" altLang="ko-KR" dirty="0"/>
              <a:t>)’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자녀는 부모의 소유물이자 감정의 배출구에 불과</a:t>
            </a:r>
          </a:p>
        </p:txBody>
      </p:sp>
    </p:spTree>
    <p:extLst>
      <p:ext uri="{BB962C8B-B14F-4D97-AF65-F5344CB8AC3E}">
        <p14:creationId xmlns:p14="http://schemas.microsoft.com/office/powerpoint/2010/main" val="173878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64A86-AF7C-F865-75A0-2327B5CD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하나님께 돌아오지 못하게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C341B6-4A4D-9B9C-4E42-CECC3F4D3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부모가 자녀를 자신의 성취 수단으로 삼을 때</a:t>
            </a:r>
            <a:r>
              <a:rPr lang="en-US" altLang="ko-KR" dirty="0"/>
              <a:t>, </a:t>
            </a:r>
            <a:r>
              <a:rPr lang="ko-KR" altLang="en-US" dirty="0"/>
              <a:t>감정적으로 방임할 때</a:t>
            </a:r>
            <a:r>
              <a:rPr lang="en-US" altLang="ko-KR" dirty="0"/>
              <a:t>, </a:t>
            </a:r>
            <a:r>
              <a:rPr lang="ko-KR" altLang="en-US" dirty="0" err="1"/>
              <a:t>완벽주의적인</a:t>
            </a:r>
            <a:r>
              <a:rPr lang="ko-KR" altLang="en-US" dirty="0"/>
              <a:t> 잣대로 정죄할 때 자녀의 영혼은 노여움으로 병들어 간다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 </a:t>
            </a:r>
            <a:r>
              <a:rPr lang="en-US" altLang="ko-KR" dirty="0"/>
              <a:t>'</a:t>
            </a:r>
            <a:r>
              <a:rPr lang="ko-KR" altLang="en-US" dirty="0"/>
              <a:t>노여움</a:t>
            </a:r>
            <a:r>
              <a:rPr lang="en-US" altLang="ko-KR" dirty="0"/>
              <a:t>'</a:t>
            </a:r>
            <a:r>
              <a:rPr lang="ko-KR" altLang="en-US" dirty="0"/>
              <a:t>은 하나님 아버지를 바라보는 영적 시선마저 왜곡시킴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"</a:t>
            </a:r>
            <a:r>
              <a:rPr lang="ko-KR" altLang="en-US" dirty="0"/>
              <a:t>육신의 아버지가 나를 거절했으니</a:t>
            </a:r>
            <a:r>
              <a:rPr lang="en-US" altLang="ko-KR" dirty="0"/>
              <a:t>, </a:t>
            </a:r>
            <a:r>
              <a:rPr lang="ko-KR" altLang="en-US" dirty="0"/>
              <a:t>하나님 아버지도 내가 무언가를 잘해내지 못하면 나를 버리실 거야</a:t>
            </a:r>
            <a:r>
              <a:rPr lang="en-US" altLang="ko-KR" dirty="0"/>
              <a:t>"</a:t>
            </a:r>
            <a:r>
              <a:rPr lang="ko-KR" altLang="en-US" dirty="0"/>
              <a:t>라는 율법주의적 공포에 갇히게 만드는 것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304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A5ED7-4BF6-B0EE-46D6-AEED1365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가족관계의 경계선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D03AB0-79DF-6413-755B-11FCDE1AA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"</a:t>
            </a:r>
            <a:r>
              <a:rPr lang="ko-KR" altLang="en-US" dirty="0"/>
              <a:t>자녀들아 주 안에서 너희 부모에게 순종하라 이것이 </a:t>
            </a:r>
            <a:r>
              <a:rPr lang="ko-KR" altLang="en-US" dirty="0" err="1"/>
              <a:t>옳으니라</a:t>
            </a:r>
            <a:r>
              <a:rPr lang="en-US" altLang="ko-KR" dirty="0"/>
              <a:t>" (</a:t>
            </a:r>
            <a:r>
              <a:rPr lang="ko-KR" altLang="en-US" dirty="0"/>
              <a:t>엡 </a:t>
            </a:r>
            <a:r>
              <a:rPr lang="en-US" altLang="ko-KR" dirty="0"/>
              <a:t>6:1)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"</a:t>
            </a:r>
            <a:r>
              <a:rPr lang="ko-KR" altLang="en-US" dirty="0"/>
              <a:t>건강한 경계선</a:t>
            </a:r>
            <a:r>
              <a:rPr lang="en-US" altLang="ko-KR" dirty="0"/>
              <a:t>(Boundary)</a:t>
            </a:r>
            <a:r>
              <a:rPr lang="ko-KR" altLang="en-US" dirty="0"/>
              <a:t>을 세우는 것은 이기적인 것이 아니라</a:t>
            </a:r>
            <a:r>
              <a:rPr lang="en-US" altLang="ko-KR" dirty="0"/>
              <a:t>, </a:t>
            </a:r>
            <a:r>
              <a:rPr lang="ko-KR" altLang="en-US" dirty="0"/>
              <a:t>하나님이 주신 자기 영혼을 보호하는 책임 있는 행동</a:t>
            </a:r>
            <a:r>
              <a:rPr lang="en-US" altLang="ko-KR" dirty="0"/>
              <a:t>“.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부모를 미워하지 않되</a:t>
            </a:r>
            <a:r>
              <a:rPr lang="en-US" altLang="ko-KR" dirty="0"/>
              <a:t>, </a:t>
            </a:r>
            <a:r>
              <a:rPr lang="ko-KR" altLang="en-US" dirty="0"/>
              <a:t>그들의 </a:t>
            </a:r>
            <a:r>
              <a:rPr lang="ko-KR" altLang="en-US" dirty="0" err="1"/>
              <a:t>역기능적인</a:t>
            </a:r>
            <a:r>
              <a:rPr lang="ko-KR" altLang="en-US" dirty="0"/>
              <a:t> 영향력으로부터 나를 분리해내는 </a:t>
            </a:r>
            <a:r>
              <a:rPr lang="en-US" altLang="ko-KR" dirty="0"/>
              <a:t>'</a:t>
            </a:r>
            <a:r>
              <a:rPr lang="ko-KR" altLang="en-US" dirty="0"/>
              <a:t>심리적 영적 경계선</a:t>
            </a:r>
            <a:r>
              <a:rPr lang="en-US" altLang="ko-KR" dirty="0"/>
              <a:t>'</a:t>
            </a:r>
            <a:r>
              <a:rPr lang="ko-KR" altLang="en-US" dirty="0"/>
              <a:t>을 치는 것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즉 창세기가 말한 </a:t>
            </a:r>
            <a:r>
              <a:rPr lang="en-US" altLang="ko-KR" dirty="0"/>
              <a:t>'</a:t>
            </a:r>
            <a:r>
              <a:rPr lang="ko-KR" altLang="en-US" dirty="0"/>
              <a:t>부모를 떠나는 작업</a:t>
            </a:r>
            <a:r>
              <a:rPr lang="en-US" altLang="ko-KR" dirty="0"/>
              <a:t>'</a:t>
            </a:r>
            <a:r>
              <a:rPr lang="ko-KR" altLang="en-US" dirty="0"/>
              <a:t>이 선행되어야 진정한 치유가 시작 됨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헨리 클라우드</a:t>
            </a:r>
            <a:r>
              <a:rPr lang="en-US" altLang="ko-KR" dirty="0"/>
              <a:t>(Henry Cloud)</a:t>
            </a:r>
            <a:r>
              <a:rPr lang="ko-KR" altLang="en-US" dirty="0"/>
              <a:t>와 존 </a:t>
            </a:r>
            <a:r>
              <a:rPr lang="ko-KR" altLang="en-US" dirty="0" err="1"/>
              <a:t>타운센드</a:t>
            </a:r>
            <a:r>
              <a:rPr lang="en-US" altLang="ko-KR" dirty="0"/>
              <a:t>(John Townsend)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796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BE59B-15F7-54A4-BA44-1A431D43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하나님 아버지 안에서 찾을 새로운 정체성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98097-6C1F-4C4B-FBF2-245D24019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우리 안의 가계도</a:t>
            </a:r>
            <a:r>
              <a:rPr lang="en-US" altLang="ko-KR" dirty="0"/>
              <a:t>(Genogram)</a:t>
            </a:r>
            <a:r>
              <a:rPr lang="ko-KR" altLang="en-US" dirty="0"/>
              <a:t>와 과거의 상처는 복음 안에서 재구성되어야 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피터 </a:t>
            </a:r>
            <a:r>
              <a:rPr lang="ko-KR" altLang="en-US" dirty="0" err="1"/>
              <a:t>스카지어로</a:t>
            </a:r>
            <a:r>
              <a:rPr lang="en-US" altLang="ko-KR" dirty="0"/>
              <a:t>(Peter Scazzero) </a:t>
            </a:r>
            <a:r>
              <a:rPr lang="ko-KR" altLang="en-US" dirty="0"/>
              <a:t>목사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정서적으로 건강한 제자도</a:t>
            </a:r>
            <a:r>
              <a:rPr lang="en-US" altLang="ko-KR" dirty="0"/>
              <a:t>(Emotionally Healthy Discipleship)'</a:t>
            </a:r>
            <a:r>
              <a:rPr lang="ko-KR" altLang="en-US" dirty="0"/>
              <a:t>는 현대 기독교 영성에서 중요한 문제를 제기함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68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DACEC7-D166-C58C-3261-694E81BC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/>
              <a:t>'</a:t>
            </a:r>
            <a:r>
              <a:rPr lang="ko-KR" altLang="en-US" sz="3200" dirty="0"/>
              <a:t>빙산 모델</a:t>
            </a:r>
            <a:r>
              <a:rPr lang="en-US" altLang="ko-KR" sz="3200" dirty="0"/>
              <a:t>'</a:t>
            </a:r>
            <a:r>
              <a:rPr lang="ko-KR" altLang="en-US" sz="3200" dirty="0"/>
              <a:t>로 보는 </a:t>
            </a:r>
            <a:br>
              <a:rPr lang="en-US" altLang="ko-KR" sz="3200" dirty="0"/>
            </a:br>
            <a:r>
              <a:rPr lang="ko-KR" altLang="en-US" sz="3200" dirty="0"/>
              <a:t>기존 제자 훈련의 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64F0F-FFB4-9D58-544A-8E76FF0A2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42" y="2470244"/>
            <a:ext cx="6059277" cy="4139876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수면 위의 </a:t>
            </a:r>
            <a:r>
              <a:rPr lang="en-US" altLang="ko-KR" sz="2000" dirty="0"/>
              <a:t>10% (</a:t>
            </a:r>
            <a:r>
              <a:rPr lang="ko-KR" altLang="en-US" sz="2000" dirty="0"/>
              <a:t>기존 제자훈련</a:t>
            </a:r>
            <a:r>
              <a:rPr lang="en-US" altLang="ko-KR" sz="2000" dirty="0"/>
              <a:t>) : </a:t>
            </a:r>
            <a:r>
              <a:rPr lang="ko-KR" altLang="en-US" sz="2000" dirty="0"/>
              <a:t>성경 공부</a:t>
            </a:r>
            <a:r>
              <a:rPr lang="en-US" altLang="ko-KR" sz="2000" dirty="0"/>
              <a:t>, </a:t>
            </a:r>
            <a:r>
              <a:rPr lang="ko-KR" altLang="en-US" sz="2000" dirty="0"/>
              <a:t>예배 참석</a:t>
            </a:r>
            <a:r>
              <a:rPr lang="en-US" altLang="ko-KR" sz="2000" dirty="0"/>
              <a:t>, </a:t>
            </a:r>
            <a:r>
              <a:rPr lang="ko-KR" altLang="en-US" sz="2000" dirty="0"/>
              <a:t>봉사</a:t>
            </a:r>
            <a:r>
              <a:rPr lang="en-US" altLang="ko-KR" sz="2000" dirty="0"/>
              <a:t>, </a:t>
            </a:r>
            <a:r>
              <a:rPr lang="ko-KR" altLang="en-US" sz="2000" dirty="0"/>
              <a:t>십일조</a:t>
            </a:r>
            <a:r>
              <a:rPr lang="en-US" altLang="ko-KR" sz="2000" dirty="0"/>
              <a:t>, </a:t>
            </a:r>
            <a:r>
              <a:rPr lang="ko-KR" altLang="en-US" sz="2000" dirty="0"/>
              <a:t>겉으로 드러나는 경건한 행동과 언어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수면 아래의 </a:t>
            </a:r>
            <a:r>
              <a:rPr lang="en-US" altLang="ko-KR" sz="2000" dirty="0"/>
              <a:t>90% (</a:t>
            </a:r>
            <a:r>
              <a:rPr lang="ko-KR" altLang="en-US" sz="2000" dirty="0"/>
              <a:t>방치된 영역</a:t>
            </a:r>
            <a:r>
              <a:rPr lang="en-US" altLang="ko-KR" sz="2000" dirty="0"/>
              <a:t>) : </a:t>
            </a:r>
            <a:r>
              <a:rPr lang="ko-KR" altLang="en-US" sz="2000" dirty="0"/>
              <a:t>과거의 트라우마</a:t>
            </a:r>
            <a:r>
              <a:rPr lang="en-US" altLang="ko-KR" sz="2000" dirty="0"/>
              <a:t>, </a:t>
            </a:r>
            <a:r>
              <a:rPr lang="ko-KR" altLang="en-US" sz="2000" dirty="0"/>
              <a:t>원가족으로부터 물려받은 역기능적 패턴</a:t>
            </a:r>
            <a:r>
              <a:rPr lang="en-US" altLang="ko-KR" sz="2000" dirty="0"/>
              <a:t>, </a:t>
            </a:r>
            <a:r>
              <a:rPr lang="ko-KR" altLang="en-US" sz="2000" dirty="0"/>
              <a:t>무의식적인 방어기제</a:t>
            </a:r>
            <a:r>
              <a:rPr lang="en-US" altLang="ko-KR" sz="2000" dirty="0"/>
              <a:t>, </a:t>
            </a:r>
            <a:r>
              <a:rPr lang="ko-KR" altLang="en-US" sz="2000" dirty="0"/>
              <a:t>억압된 분노와 슬픔</a:t>
            </a:r>
            <a:r>
              <a:rPr lang="en-US" altLang="ko-KR" sz="2000" dirty="0"/>
              <a:t>, </a:t>
            </a:r>
            <a:r>
              <a:rPr lang="ko-KR" altLang="en-US" sz="2000" dirty="0"/>
              <a:t>인정욕구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C41359-7BC9-0D68-4825-DCED91AC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" r="6296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221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2B70F-D7A9-ACA3-B4D9-6DE64995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850169-058D-6421-4BD1-09264FA30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"</a:t>
            </a:r>
            <a:r>
              <a:rPr lang="ko-KR" altLang="en-US" dirty="0"/>
              <a:t>성경 지식은 해박하고 교회 봉사는 열심히 하지만</a:t>
            </a:r>
            <a:r>
              <a:rPr lang="en-US" altLang="ko-KR" dirty="0"/>
              <a:t>, </a:t>
            </a:r>
            <a:r>
              <a:rPr lang="ko-KR" altLang="en-US" dirty="0"/>
              <a:t>정작 부부 관계나 자녀 관계에서는 쉽게 분노를 터뜨리고 통제하려 드는 </a:t>
            </a:r>
            <a:r>
              <a:rPr lang="en-US" altLang="ko-KR" dirty="0"/>
              <a:t>'</a:t>
            </a:r>
            <a:r>
              <a:rPr lang="ko-KR" altLang="en-US" dirty="0">
                <a:highlight>
                  <a:srgbClr val="C0C0C0"/>
                </a:highlight>
              </a:rPr>
              <a:t>정서적 유아기</a:t>
            </a:r>
            <a:r>
              <a:rPr lang="en-US" altLang="ko-KR" dirty="0">
                <a:highlight>
                  <a:srgbClr val="C0C0C0"/>
                </a:highlight>
              </a:rPr>
              <a:t>' </a:t>
            </a:r>
            <a:r>
              <a:rPr lang="ko-KR" altLang="en-US" dirty="0">
                <a:highlight>
                  <a:srgbClr val="C0C0C0"/>
                </a:highlight>
              </a:rPr>
              <a:t>상태의 그리스도인</a:t>
            </a:r>
            <a:r>
              <a:rPr lang="en-US" altLang="ko-KR" dirty="0">
                <a:highlight>
                  <a:srgbClr val="C0C0C0"/>
                </a:highlight>
              </a:rPr>
              <a:t>"</a:t>
            </a:r>
            <a:r>
              <a:rPr lang="ko-KR" altLang="en-US" dirty="0">
                <a:highlight>
                  <a:srgbClr val="C0C0C0"/>
                </a:highlight>
              </a:rPr>
              <a:t>들을 양산</a:t>
            </a:r>
            <a:r>
              <a:rPr lang="ko-KR" altLang="en-US" dirty="0"/>
              <a:t>했다는 비판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종교적 열심이 오히려 </a:t>
            </a:r>
            <a:r>
              <a:rPr lang="ko-KR" altLang="en-US" dirty="0">
                <a:highlight>
                  <a:srgbClr val="C0C0C0"/>
                </a:highlight>
              </a:rPr>
              <a:t>내면의 상처와 정서적 미성숙을 감추는 </a:t>
            </a:r>
            <a:r>
              <a:rPr lang="en-US" altLang="ko-KR" dirty="0">
                <a:highlight>
                  <a:srgbClr val="C0C0C0"/>
                </a:highlight>
              </a:rPr>
              <a:t>'</a:t>
            </a:r>
            <a:r>
              <a:rPr lang="ko-KR" altLang="en-US" dirty="0">
                <a:highlight>
                  <a:srgbClr val="C0C0C0"/>
                </a:highlight>
              </a:rPr>
              <a:t>종교적 방어기제</a:t>
            </a:r>
            <a:r>
              <a:rPr lang="en-US" altLang="ko-KR" dirty="0">
                <a:highlight>
                  <a:srgbClr val="C0C0C0"/>
                </a:highlight>
              </a:rPr>
              <a:t>'</a:t>
            </a:r>
            <a:r>
              <a:rPr lang="ko-KR" altLang="en-US" dirty="0">
                <a:highlight>
                  <a:srgbClr val="C0C0C0"/>
                </a:highlight>
              </a:rPr>
              <a:t>로 사용된 </a:t>
            </a:r>
            <a:r>
              <a:rPr lang="ko-KR" altLang="en-US" dirty="0"/>
              <a:t>것</a:t>
            </a:r>
          </a:p>
        </p:txBody>
      </p:sp>
    </p:spTree>
    <p:extLst>
      <p:ext uri="{BB962C8B-B14F-4D97-AF65-F5344CB8AC3E}">
        <p14:creationId xmlns:p14="http://schemas.microsoft.com/office/powerpoint/2010/main" val="371128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6C1A6-6006-D42F-6785-8028D07D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앞으로 가기 위해 뒤로 가기 </a:t>
            </a:r>
            <a:r>
              <a:rPr lang="en-US" altLang="ko-KR" sz="3200" dirty="0"/>
              <a:t>(Going Back to Go Forward)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77F53E-E177-921A-D4C2-7C1130944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우리가 예수님을 믿을 때 영적으로는 새로운 피조물이 되지만</a:t>
            </a:r>
            <a:r>
              <a:rPr lang="en-US" altLang="ko-KR" dirty="0"/>
              <a:t>, </a:t>
            </a:r>
            <a:r>
              <a:rPr lang="ko-KR" altLang="en-US" dirty="0"/>
              <a:t>정서적</a:t>
            </a:r>
            <a:r>
              <a:rPr lang="en-US" altLang="ko-KR" dirty="0"/>
              <a:t>·</a:t>
            </a:r>
            <a:r>
              <a:rPr lang="ko-KR" altLang="en-US" dirty="0"/>
              <a:t>체계적으로는 여전히 원가족의 가계도</a:t>
            </a:r>
            <a:r>
              <a:rPr lang="en-US" altLang="ko-KR" dirty="0"/>
              <a:t>(Genogram) </a:t>
            </a:r>
            <a:r>
              <a:rPr lang="ko-KR" altLang="en-US" dirty="0"/>
              <a:t>안에 갇혀 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부모가 갈등을 해결하던 방식</a:t>
            </a:r>
            <a:r>
              <a:rPr lang="en-US" altLang="ko-KR" dirty="0"/>
              <a:t>(</a:t>
            </a:r>
            <a:r>
              <a:rPr lang="ko-KR" altLang="en-US" dirty="0"/>
              <a:t>비난</a:t>
            </a:r>
            <a:r>
              <a:rPr lang="en-US" altLang="ko-KR" dirty="0"/>
              <a:t>, </a:t>
            </a:r>
            <a:r>
              <a:rPr lang="ko-KR" altLang="en-US" dirty="0"/>
              <a:t>회피</a:t>
            </a:r>
            <a:r>
              <a:rPr lang="en-US" altLang="ko-KR" dirty="0"/>
              <a:t>, </a:t>
            </a:r>
            <a:r>
              <a:rPr lang="ko-KR" altLang="en-US" dirty="0"/>
              <a:t>침묵</a:t>
            </a:r>
            <a:r>
              <a:rPr lang="en-US" altLang="ko-KR" dirty="0"/>
              <a:t>), </a:t>
            </a:r>
            <a:r>
              <a:rPr lang="ko-KR" altLang="en-US" dirty="0"/>
              <a:t>사랑을 표현하던 방식</a:t>
            </a:r>
            <a:r>
              <a:rPr lang="en-US" altLang="ko-KR" dirty="0"/>
              <a:t>(</a:t>
            </a:r>
            <a:r>
              <a:rPr lang="ko-KR" altLang="en-US" dirty="0"/>
              <a:t>조건부 사랑</a:t>
            </a:r>
            <a:r>
              <a:rPr lang="en-US" altLang="ko-KR" dirty="0"/>
              <a:t>, </a:t>
            </a:r>
            <a:r>
              <a:rPr lang="ko-KR" altLang="en-US" dirty="0"/>
              <a:t>통제</a:t>
            </a:r>
            <a:r>
              <a:rPr lang="en-US" altLang="ko-KR" dirty="0"/>
              <a:t>)</a:t>
            </a:r>
            <a:r>
              <a:rPr lang="ko-KR" altLang="en-US" dirty="0"/>
              <a:t>이 내면에 굳어져 기독교인이 된 후에도 똑같이 반복된다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하나님께서 아브라함을 부르실 때 </a:t>
            </a:r>
            <a:r>
              <a:rPr lang="en-US" altLang="ko-KR" dirty="0"/>
              <a:t>"</a:t>
            </a:r>
            <a:r>
              <a:rPr lang="ko-KR" altLang="en-US" dirty="0"/>
              <a:t>너의 고향과 친척과 아버지의 집을 떠나라</a:t>
            </a:r>
            <a:r>
              <a:rPr lang="en-US" altLang="ko-KR" dirty="0"/>
              <a:t>"(</a:t>
            </a:r>
            <a:r>
              <a:rPr lang="ko-KR" altLang="en-US" dirty="0"/>
              <a:t>창 </a:t>
            </a:r>
            <a:r>
              <a:rPr lang="en-US" altLang="ko-KR" dirty="0"/>
              <a:t>12:1)</a:t>
            </a:r>
            <a:r>
              <a:rPr lang="ko-KR" altLang="en-US" dirty="0"/>
              <a:t>고 하신 것은 단순히 지리적 이동이 아니라</a:t>
            </a:r>
            <a:r>
              <a:rPr lang="en-US" altLang="ko-KR" dirty="0"/>
              <a:t>, </a:t>
            </a:r>
            <a:r>
              <a:rPr lang="ko-KR" altLang="en-US" dirty="0">
                <a:highlight>
                  <a:srgbClr val="C0C0C0"/>
                </a:highlight>
              </a:rPr>
              <a:t>원가족의 죄의 패턴과 역기능으로부터의 정서적 단절</a:t>
            </a:r>
            <a:r>
              <a:rPr lang="ko-KR" altLang="en-US" dirty="0"/>
              <a:t>을 의미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253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33CB2-DF74-6113-1842-11CFE721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상실과 슬픔을 애도하기 </a:t>
            </a:r>
            <a:r>
              <a:rPr lang="en-US" altLang="ko-KR" dirty="0"/>
              <a:t>(Grief and Loss)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77B54-AA25-909E-97A0-C44F6F62F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많은 그리스도인들이 </a:t>
            </a:r>
            <a:r>
              <a:rPr lang="en-US" altLang="ko-KR" dirty="0"/>
              <a:t>"</a:t>
            </a:r>
            <a:r>
              <a:rPr lang="ko-KR" altLang="en-US" dirty="0"/>
              <a:t>항상 기뻐하라</a:t>
            </a:r>
            <a:r>
              <a:rPr lang="en-US" altLang="ko-KR" dirty="0"/>
              <a:t>"</a:t>
            </a:r>
            <a:r>
              <a:rPr lang="ko-KR" altLang="en-US" dirty="0"/>
              <a:t>는 말씀을 오해하여 슬픔</a:t>
            </a:r>
            <a:r>
              <a:rPr lang="en-US" altLang="ko-KR" dirty="0"/>
              <a:t>, </a:t>
            </a:r>
            <a:r>
              <a:rPr lang="ko-KR" altLang="en-US" dirty="0"/>
              <a:t>분노</a:t>
            </a:r>
            <a:r>
              <a:rPr lang="en-US" altLang="ko-KR" dirty="0"/>
              <a:t>, </a:t>
            </a:r>
            <a:r>
              <a:rPr lang="ko-KR" altLang="en-US" dirty="0"/>
              <a:t>두려움 같은 부정적 감정을 죄악시하고 억압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슬픔을 정직하게 대면하고 애도하지 못하면 정서적으로 고착</a:t>
            </a:r>
            <a:r>
              <a:rPr lang="en-US" altLang="ko-KR" dirty="0"/>
              <a:t>(Fixation)</a:t>
            </a:r>
            <a:r>
              <a:rPr lang="ko-KR" altLang="en-US" dirty="0"/>
              <a:t>된다고 경고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시편 중 수많은 시가 </a:t>
            </a:r>
            <a:r>
              <a:rPr lang="ko-KR" altLang="en-US" dirty="0" err="1"/>
              <a:t>탄식시</a:t>
            </a:r>
            <a:r>
              <a:rPr lang="en-US" altLang="ko-KR" dirty="0"/>
              <a:t>(Lament)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예수님 역시 </a:t>
            </a:r>
            <a:r>
              <a:rPr lang="ko-KR" altLang="en-US" dirty="0" err="1"/>
              <a:t>겟세마네와</a:t>
            </a:r>
            <a:r>
              <a:rPr lang="ko-KR" altLang="en-US" dirty="0"/>
              <a:t> 나사로의 무덤 앞에서 눈물을 흘리셨다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애도는 상처를 치유하시는 하나님의 은혜가 흘러 들어오는 통로</a:t>
            </a:r>
          </a:p>
        </p:txBody>
      </p:sp>
    </p:spTree>
    <p:extLst>
      <p:ext uri="{BB962C8B-B14F-4D97-AF65-F5344CB8AC3E}">
        <p14:creationId xmlns:p14="http://schemas.microsoft.com/office/powerpoint/2010/main" val="223379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EE202-8932-5B9B-F5F3-D85C5D0A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인간적 한계를 수용하기 </a:t>
            </a:r>
            <a:r>
              <a:rPr lang="en-US" altLang="ko-KR" sz="3600" dirty="0"/>
              <a:t>(Accepting Limits)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2E2EE-6987-7036-E846-47343F8D8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정서적으로 병든 영성은 </a:t>
            </a:r>
            <a:r>
              <a:rPr lang="en-US" altLang="ko-KR" dirty="0">
                <a:highlight>
                  <a:srgbClr val="C0C0C0"/>
                </a:highlight>
              </a:rPr>
              <a:t>'</a:t>
            </a:r>
            <a:r>
              <a:rPr lang="ko-KR" altLang="en-US" dirty="0">
                <a:highlight>
                  <a:srgbClr val="C0C0C0"/>
                </a:highlight>
              </a:rPr>
              <a:t>자신의 한계</a:t>
            </a:r>
            <a:r>
              <a:rPr lang="en-US" altLang="ko-KR" dirty="0">
                <a:highlight>
                  <a:srgbClr val="C0C0C0"/>
                </a:highlight>
              </a:rPr>
              <a:t>'</a:t>
            </a:r>
            <a:r>
              <a:rPr lang="ko-KR" altLang="en-US" dirty="0">
                <a:highlight>
                  <a:srgbClr val="C0C0C0"/>
                </a:highlight>
              </a:rPr>
              <a:t>를 부정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피로</a:t>
            </a:r>
            <a:r>
              <a:rPr lang="en-US" altLang="ko-KR" dirty="0"/>
              <a:t>, </a:t>
            </a:r>
            <a:r>
              <a:rPr lang="ko-KR" altLang="en-US" dirty="0"/>
              <a:t>감정적 소진</a:t>
            </a:r>
            <a:r>
              <a:rPr lang="en-US" altLang="ko-KR" dirty="0"/>
              <a:t>, </a:t>
            </a:r>
            <a:r>
              <a:rPr lang="ko-KR" altLang="en-US" dirty="0"/>
              <a:t>심리적 취약성을 무시한 채 </a:t>
            </a:r>
            <a:r>
              <a:rPr lang="en-US" altLang="ko-KR" dirty="0">
                <a:highlight>
                  <a:srgbClr val="C0C0C0"/>
                </a:highlight>
              </a:rPr>
              <a:t>"</a:t>
            </a:r>
            <a:r>
              <a:rPr lang="ko-KR" altLang="en-US" dirty="0">
                <a:highlight>
                  <a:srgbClr val="C0C0C0"/>
                </a:highlight>
              </a:rPr>
              <a:t>기도하면 다 된다</a:t>
            </a:r>
            <a:r>
              <a:rPr lang="en-US" altLang="ko-KR" dirty="0">
                <a:highlight>
                  <a:srgbClr val="C0C0C0"/>
                </a:highlight>
              </a:rPr>
              <a:t>"</a:t>
            </a:r>
            <a:r>
              <a:rPr lang="ko-KR" altLang="en-US" dirty="0">
                <a:highlight>
                  <a:srgbClr val="C0C0C0"/>
                </a:highlight>
              </a:rPr>
              <a:t>며 영적 만능주의로 도피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자신의 한계를 인정하는 것이야 말로 겸손의 시작이며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타인의 한계</a:t>
            </a:r>
            <a:r>
              <a:rPr lang="en-US" altLang="ko-KR" dirty="0"/>
              <a:t>(</a:t>
            </a:r>
            <a:r>
              <a:rPr lang="ko-KR" altLang="en-US" dirty="0"/>
              <a:t>부모의 유약함이나 상처</a:t>
            </a:r>
            <a:r>
              <a:rPr lang="en-US" altLang="ko-KR" dirty="0"/>
              <a:t>)</a:t>
            </a:r>
            <a:r>
              <a:rPr lang="ko-KR" altLang="en-US" dirty="0"/>
              <a:t>를 용납할 수 있는 사랑의 마음을 길러 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419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FD311-7B23-D538-DAAC-8892C65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묵상과 기도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0D5EA3-9470-4CE8-5ECA-CCC20A2C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노여움의 뿌리 </a:t>
            </a:r>
            <a:r>
              <a:rPr lang="en-US" altLang="ko-KR" dirty="0"/>
              <a:t>: </a:t>
            </a:r>
            <a:r>
              <a:rPr lang="ko-KR" altLang="en-US" dirty="0"/>
              <a:t>오늘 나를 가장 화나게 한 상황은 원가족의 어떤 상처와 닮아 있는가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거짓 자아의 고백 </a:t>
            </a:r>
            <a:r>
              <a:rPr lang="en-US" altLang="ko-KR" dirty="0"/>
              <a:t>: </a:t>
            </a:r>
            <a:r>
              <a:rPr lang="ko-KR" altLang="en-US" dirty="0"/>
              <a:t>나는 오늘 사람들에게 인정받기 위해 얼마나 나를 포장</a:t>
            </a:r>
            <a:r>
              <a:rPr lang="en-US" altLang="ko-KR" dirty="0"/>
              <a:t>(</a:t>
            </a:r>
            <a:r>
              <a:rPr lang="ko-KR" altLang="en-US" dirty="0"/>
              <a:t>거짓 자아</a:t>
            </a:r>
            <a:r>
              <a:rPr lang="en-US" altLang="ko-KR" dirty="0"/>
              <a:t>)</a:t>
            </a:r>
            <a:r>
              <a:rPr lang="ko-KR" altLang="en-US" dirty="0"/>
              <a:t>했는가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한계의 수용 </a:t>
            </a:r>
            <a:r>
              <a:rPr lang="en-US" altLang="ko-KR" dirty="0"/>
              <a:t>: </a:t>
            </a:r>
            <a:r>
              <a:rPr lang="ko-KR" altLang="en-US" dirty="0"/>
              <a:t>내가 바꿀 수 없는 부모의 성격이나 과거의 사건을 억지로 바꾸려 애쓰고 있진 않은가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슬픔의 애도 </a:t>
            </a:r>
            <a:r>
              <a:rPr lang="en-US" altLang="ko-KR" dirty="0"/>
              <a:t>: </a:t>
            </a:r>
            <a:r>
              <a:rPr lang="ko-KR" altLang="en-US" dirty="0"/>
              <a:t>내 뜻대로 되지 않은 관계의 실패와 상실을 하나님 앞에서 충분히 울어보았는가</a:t>
            </a:r>
            <a:r>
              <a:rPr lang="en-US" altLang="ko-KR" dirty="0"/>
              <a:t>?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2741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1AE14-B8AF-0FAF-D1CE-B1071061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94A63-1E90-4A06-1E7D-C8CA327B9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거룩한 경계선 </a:t>
            </a:r>
            <a:r>
              <a:rPr lang="en-US" altLang="ko-KR" dirty="0"/>
              <a:t>:</a:t>
            </a:r>
            <a:r>
              <a:rPr lang="ko-KR" altLang="en-US" dirty="0"/>
              <a:t>	죄책감 때문이 아니라</a:t>
            </a:r>
            <a:r>
              <a:rPr lang="en-US" altLang="ko-KR" dirty="0"/>
              <a:t>, </a:t>
            </a:r>
            <a:r>
              <a:rPr lang="ko-KR" altLang="en-US" dirty="0">
                <a:highlight>
                  <a:srgbClr val="C0C0C0"/>
                </a:highlight>
              </a:rPr>
              <a:t>내 영혼을 지키기 위해 오늘 거절해야 할 부모</a:t>
            </a:r>
            <a:r>
              <a:rPr lang="en-US" altLang="ko-KR" dirty="0">
                <a:highlight>
                  <a:srgbClr val="C0C0C0"/>
                </a:highlight>
              </a:rPr>
              <a:t>(</a:t>
            </a:r>
            <a:r>
              <a:rPr lang="ko-KR" altLang="en-US" dirty="0">
                <a:highlight>
                  <a:srgbClr val="C0C0C0"/>
                </a:highlight>
              </a:rPr>
              <a:t>형제</a:t>
            </a:r>
            <a:r>
              <a:rPr lang="en-US" altLang="ko-KR" dirty="0">
                <a:highlight>
                  <a:srgbClr val="C0C0C0"/>
                </a:highlight>
              </a:rPr>
              <a:t>)</a:t>
            </a:r>
            <a:r>
              <a:rPr lang="ko-KR" altLang="en-US" dirty="0">
                <a:highlight>
                  <a:srgbClr val="C0C0C0"/>
                </a:highlight>
              </a:rPr>
              <a:t>의 요구는 무엇인가</a:t>
            </a:r>
            <a:r>
              <a:rPr lang="en-US" altLang="ko-KR" dirty="0">
                <a:highlight>
                  <a:srgbClr val="C0C0C0"/>
                </a:highlight>
              </a:rPr>
              <a:t>?</a:t>
            </a:r>
            <a:endParaRPr lang="ko-KR" alt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7621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889</Words>
  <Application>Microsoft Office PowerPoint</Application>
  <PresentationFormat>와이드스크린</PresentationFormat>
  <Paragraphs>59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     에베소서 제4강  영적 성숙의 참된 제자도</vt:lpstr>
      <vt:lpstr>가정을 이상화 하거나 우상화 하는 목회?</vt:lpstr>
      <vt:lpstr>타락으로 인한 가족의 역기능과 '원수' 된 관계</vt:lpstr>
      <vt:lpstr>죄 속에 있다는 현실을 자각하라!</vt:lpstr>
      <vt:lpstr>PowerPoint 프레젠테이션</vt:lpstr>
      <vt:lpstr>하나님께 돌아오지 못하게…</vt:lpstr>
      <vt:lpstr>가족관계의 경계선</vt:lpstr>
      <vt:lpstr>하나님 아버지 안에서 찾을 새로운 정체성</vt:lpstr>
      <vt:lpstr>'빙산 모델'로 보는  기존 제자 훈련의 한계</vt:lpstr>
      <vt:lpstr>PowerPoint 프레젠테이션</vt:lpstr>
      <vt:lpstr>앞으로 가기 위해 뒤로 가기 (Going Back to Go Forward)</vt:lpstr>
      <vt:lpstr>상실과 슬픔을 애도하기 (Grief and Loss)</vt:lpstr>
      <vt:lpstr>인간적 한계를 수용하기 (Accepting Limits)</vt:lpstr>
      <vt:lpstr>묵상과 기도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Junghoon Lee</dc:creator>
  <cp:lastModifiedBy>Junghoon Lee</cp:lastModifiedBy>
  <cp:revision>110</cp:revision>
  <dcterms:created xsi:type="dcterms:W3CDTF">2024-06-23T00:06:02Z</dcterms:created>
  <dcterms:modified xsi:type="dcterms:W3CDTF">2026-05-19T03:50:27Z</dcterms:modified>
</cp:coreProperties>
</file>